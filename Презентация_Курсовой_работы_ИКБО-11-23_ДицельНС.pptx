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6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</p:sldIdLst>
  <p:sldSz cx="14630400" cy="8229600"/>
  <p:notesSz cx="8229600" cy="14630400"/>
  <p:embeddedFontLst>
    <p:embeddedFont>
      <p:font typeface="Crimson Pro Semi Bold" panose="020B0604020202020204" charset="0"/>
      <p:regular r:id="rId15"/>
    </p:embeddedFont>
    <p:embeddedFont>
      <p:font typeface="Heebo" pitchFamily="2" charset="-79"/>
      <p:regular r:id="rId16"/>
      <p:bold r:id="rId1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537" y="3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9731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9.sv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4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D7DEA26-AE6E-374C-0968-D7F0E2A51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5645" y="7093917"/>
            <a:ext cx="3915321" cy="107647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4AC8217-9C01-8673-90C9-871CC9979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78040" y="285260"/>
            <a:ext cx="1674320" cy="1888976"/>
          </a:xfrm>
          <a:prstGeom prst="rect">
            <a:avLst/>
          </a:prstGeom>
          <a:noFill/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312717BD-EB98-B73C-4381-F8656B299CC0}"/>
              </a:ext>
            </a:extLst>
          </p:cNvPr>
          <p:cNvSpPr/>
          <p:nvPr/>
        </p:nvSpPr>
        <p:spPr>
          <a:xfrm>
            <a:off x="781090" y="3637041"/>
            <a:ext cx="13042821" cy="20614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ru-RU" sz="2400" dirty="0">
                <a:latin typeface="Times New Roman" panose="02020603050405020304" pitchFamily="18" charset="0"/>
                <a:ea typeface="Heebo" pitchFamily="34" charset="-122"/>
                <a:cs typeface="Times New Roman" panose="02020603050405020304" pitchFamily="18" charset="0"/>
              </a:rPr>
              <a:t>Курсовая работа по дисциплине «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Бэкенд-разработка»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Подготовил: Дицель Н. С.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Группа: ИКБО-11-23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Преподаватель: </a:t>
            </a:r>
            <a:r>
              <a:rPr lang="ru-RU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Волков М.Ю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703B2D8F-37C8-7417-EA78-1D5944C224A7}"/>
              </a:ext>
            </a:extLst>
          </p:cNvPr>
          <p:cNvSpPr/>
          <p:nvPr/>
        </p:nvSpPr>
        <p:spPr>
          <a:xfrm>
            <a:off x="3865809" y="2276299"/>
            <a:ext cx="6898781" cy="492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ru-RU" b="1" dirty="0"/>
              <a:t>«МИРЭА – Российский технологический университет»</a:t>
            </a:r>
            <a:r>
              <a:rPr lang="en-US" dirty="0"/>
              <a:t> </a:t>
            </a:r>
            <a:r>
              <a:rPr lang="ru-RU" b="1" dirty="0"/>
              <a:t>РТУ МИРЭА</a:t>
            </a:r>
            <a:endParaRPr lang="ru-RU" dirty="0"/>
          </a:p>
        </p:txBody>
      </p:sp>
      <p:grpSp>
        <p:nvGrpSpPr>
          <p:cNvPr id="2049" name="Полотно 3"/>
          <p:cNvGrpSpPr>
            <a:grpSpLocks/>
          </p:cNvGrpSpPr>
          <p:nvPr/>
        </p:nvGrpSpPr>
        <p:grpSpPr bwMode="auto">
          <a:xfrm>
            <a:off x="0" y="0"/>
            <a:ext cx="5829300" cy="342900"/>
            <a:chOff x="0" y="0"/>
            <a:chExt cx="58294" cy="3423"/>
          </a:xfrm>
        </p:grpSpPr>
      </p:grpSp>
      <p:grpSp>
        <p:nvGrpSpPr>
          <p:cNvPr id="2052" name="Group 4"/>
          <p:cNvGrpSpPr>
            <a:grpSpLocks/>
          </p:cNvGrpSpPr>
          <p:nvPr/>
        </p:nvGrpSpPr>
        <p:grpSpPr bwMode="auto">
          <a:xfrm>
            <a:off x="0" y="0"/>
            <a:ext cx="5829300" cy="342900"/>
            <a:chOff x="0" y="0"/>
            <a:chExt cx="58294" cy="3423"/>
          </a:xfrm>
        </p:grpSpPr>
      </p:grpSp>
      <p:grpSp>
        <p:nvGrpSpPr>
          <p:cNvPr id="2055" name="Group 7"/>
          <p:cNvGrpSpPr>
            <a:grpSpLocks/>
          </p:cNvGrpSpPr>
          <p:nvPr/>
        </p:nvGrpSpPr>
        <p:grpSpPr bwMode="auto">
          <a:xfrm>
            <a:off x="0" y="0"/>
            <a:ext cx="5829300" cy="342900"/>
            <a:chOff x="0" y="0"/>
            <a:chExt cx="58294" cy="3423"/>
          </a:xfrm>
        </p:grpSpPr>
      </p:grpSp>
      <p:grpSp>
        <p:nvGrpSpPr>
          <p:cNvPr id="2058" name="Group 10"/>
          <p:cNvGrpSpPr>
            <a:grpSpLocks/>
          </p:cNvGrpSpPr>
          <p:nvPr/>
        </p:nvGrpSpPr>
        <p:grpSpPr bwMode="auto">
          <a:xfrm>
            <a:off x="0" y="0"/>
            <a:ext cx="5829300" cy="342900"/>
            <a:chOff x="0" y="0"/>
            <a:chExt cx="58294" cy="3423"/>
          </a:xfrm>
        </p:grpSpPr>
      </p:grpSp>
    </p:spTree>
    <p:extLst>
      <p:ext uri="{BB962C8B-B14F-4D97-AF65-F5344CB8AC3E}">
        <p14:creationId xmlns:p14="http://schemas.microsoft.com/office/powerpoint/2010/main" val="115761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7204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Актуальность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23445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Учет личных и семейных финансов — ключ к финансовой стабильности</a:t>
            </a:r>
            <a:endParaRPr lang="en-US" sz="1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852505"/>
            <a:ext cx="883920" cy="54625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61197" y="3852505"/>
            <a:ext cx="188059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Контроль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961197" y="4342924"/>
            <a:ext cx="1880592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Отслеживать доходы и расходы в реальном времени</a:t>
            </a:r>
            <a:endParaRPr lang="en-US" sz="17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5278" y="3852505"/>
            <a:ext cx="883920" cy="54625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292685" y="3852505"/>
            <a:ext cx="188071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Анализ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5292685" y="4342924"/>
            <a:ext cx="188071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Понимание структуры затрат и трендов</a:t>
            </a:r>
            <a:endParaRPr lang="en-US" sz="17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884" y="3852505"/>
            <a:ext cx="883920" cy="54625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624292" y="3852505"/>
            <a:ext cx="1880711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Планирование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8624292" y="4697254"/>
            <a:ext cx="188071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Постановка и достижение финансовых целей</a:t>
            </a:r>
            <a:endParaRPr lang="en-US" sz="17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88491" y="3852505"/>
            <a:ext cx="883920" cy="54625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955899" y="3852505"/>
            <a:ext cx="188071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Доступность</a:t>
            </a:r>
            <a:endParaRPr lang="en-US" sz="2200" dirty="0"/>
          </a:p>
        </p:txBody>
      </p:sp>
      <p:sp>
        <p:nvSpPr>
          <p:cNvPr id="15" name="Text 9"/>
          <p:cNvSpPr/>
          <p:nvPr/>
        </p:nvSpPr>
        <p:spPr>
          <a:xfrm>
            <a:off x="11955899" y="4342924"/>
            <a:ext cx="188071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Централизованное хранение — доступ с любых устройств</a:t>
            </a:r>
            <a:endParaRPr lang="en-US" sz="1750" dirty="0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209CD206-A2F1-FDF7-61E3-3C8CA589FA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0035" y="7082697"/>
            <a:ext cx="3915321" cy="10764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1407" y="627698"/>
            <a:ext cx="5582007" cy="697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50"/>
              </a:lnSpc>
              <a:buNone/>
            </a:pPr>
            <a:r>
              <a:rPr lang="en-US" sz="43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Цель и задачи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781407" y="1764983"/>
            <a:ext cx="1306758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Цель: разработать серверную часть веб‑приложения для семейного бюджета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81408" y="3273504"/>
            <a:ext cx="3102054" cy="2698909"/>
          </a:xfrm>
          <a:prstGeom prst="roundRect">
            <a:avLst>
              <a:gd name="adj" fmla="val 542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781408" y="3243024"/>
            <a:ext cx="3102054" cy="121920"/>
          </a:xfrm>
          <a:prstGeom prst="roundRect">
            <a:avLst>
              <a:gd name="adj" fmla="val 27471"/>
            </a:avLst>
          </a:prstGeom>
          <a:solidFill>
            <a:srgbClr val="2150F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1997513" y="2938581"/>
            <a:ext cx="669846" cy="669846"/>
          </a:xfrm>
          <a:prstGeom prst="roundRect">
            <a:avLst>
              <a:gd name="adj" fmla="val 136509"/>
            </a:avLst>
          </a:prstGeom>
          <a:solidFill>
            <a:srgbClr val="2150FE"/>
          </a:solidFill>
          <a:ln/>
        </p:spPr>
        <p:txBody>
          <a:bodyPr/>
          <a:lstStyle/>
          <a:p>
            <a:r>
              <a:rPr lang="ru-RU" dirty="0"/>
              <a:t>  </a:t>
            </a:r>
          </a:p>
        </p:txBody>
      </p:sp>
      <p:sp>
        <p:nvSpPr>
          <p:cNvPr id="7" name="Text 5"/>
          <p:cNvSpPr/>
          <p:nvPr/>
        </p:nvSpPr>
        <p:spPr>
          <a:xfrm>
            <a:off x="2198490" y="3105983"/>
            <a:ext cx="267891" cy="33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35130" y="3831669"/>
            <a:ext cx="2594610" cy="1046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Анализ предметной области</a:t>
            </a:r>
            <a:endParaRPr lang="en-US" sz="2150" dirty="0"/>
          </a:p>
        </p:txBody>
      </p:sp>
      <p:sp>
        <p:nvSpPr>
          <p:cNvPr id="9" name="Text 7"/>
          <p:cNvSpPr/>
          <p:nvPr/>
        </p:nvSpPr>
        <p:spPr>
          <a:xfrm>
            <a:off x="1035130" y="5010031"/>
            <a:ext cx="259461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Требования, сценарии использования, роли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4103252" y="3273504"/>
            <a:ext cx="3102054" cy="2698909"/>
          </a:xfrm>
          <a:prstGeom prst="roundRect">
            <a:avLst>
              <a:gd name="adj" fmla="val 542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1" name="Shape 9"/>
          <p:cNvSpPr/>
          <p:nvPr/>
        </p:nvSpPr>
        <p:spPr>
          <a:xfrm>
            <a:off x="4103252" y="3243024"/>
            <a:ext cx="3102054" cy="121920"/>
          </a:xfrm>
          <a:prstGeom prst="roundRect">
            <a:avLst>
              <a:gd name="adj" fmla="val 27471"/>
            </a:avLst>
          </a:prstGeom>
          <a:solidFill>
            <a:srgbClr val="2150F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2" name="Shape 10"/>
          <p:cNvSpPr/>
          <p:nvPr/>
        </p:nvSpPr>
        <p:spPr>
          <a:xfrm>
            <a:off x="5319356" y="2938581"/>
            <a:ext cx="669846" cy="669846"/>
          </a:xfrm>
          <a:prstGeom prst="roundRect">
            <a:avLst>
              <a:gd name="adj" fmla="val 136509"/>
            </a:avLst>
          </a:prstGeom>
          <a:solidFill>
            <a:srgbClr val="2150F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5520334" y="3105983"/>
            <a:ext cx="267891" cy="33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356974" y="3831669"/>
            <a:ext cx="2594610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Выбор технологий</a:t>
            </a:r>
            <a:endParaRPr lang="en-US" sz="2150" dirty="0"/>
          </a:p>
        </p:txBody>
      </p:sp>
      <p:sp>
        <p:nvSpPr>
          <p:cNvPr id="15" name="Text 13"/>
          <p:cNvSpPr/>
          <p:nvPr/>
        </p:nvSpPr>
        <p:spPr>
          <a:xfrm>
            <a:off x="4356974" y="4312324"/>
            <a:ext cx="259461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Язык, фреймворк, СУБД, инструменты разработчика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7425096" y="3273504"/>
            <a:ext cx="3102054" cy="2698909"/>
          </a:xfrm>
          <a:prstGeom prst="roundRect">
            <a:avLst>
              <a:gd name="adj" fmla="val 542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7" name="Shape 15"/>
          <p:cNvSpPr/>
          <p:nvPr/>
        </p:nvSpPr>
        <p:spPr>
          <a:xfrm>
            <a:off x="7425096" y="3243024"/>
            <a:ext cx="3102054" cy="121920"/>
          </a:xfrm>
          <a:prstGeom prst="roundRect">
            <a:avLst>
              <a:gd name="adj" fmla="val 27471"/>
            </a:avLst>
          </a:prstGeom>
          <a:solidFill>
            <a:srgbClr val="2150F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8641200" y="2938581"/>
            <a:ext cx="669846" cy="669846"/>
          </a:xfrm>
          <a:prstGeom prst="roundRect">
            <a:avLst>
              <a:gd name="adj" fmla="val 136509"/>
            </a:avLst>
          </a:prstGeom>
          <a:solidFill>
            <a:srgbClr val="2150F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8842178" y="3105983"/>
            <a:ext cx="267891" cy="33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3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7678818" y="3831669"/>
            <a:ext cx="2594610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Архитектура</a:t>
            </a:r>
            <a:endParaRPr lang="en-US" sz="2150" dirty="0"/>
          </a:p>
        </p:txBody>
      </p:sp>
      <p:sp>
        <p:nvSpPr>
          <p:cNvPr id="21" name="Text 19"/>
          <p:cNvSpPr/>
          <p:nvPr/>
        </p:nvSpPr>
        <p:spPr>
          <a:xfrm>
            <a:off x="7678818" y="4312324"/>
            <a:ext cx="259461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Слои MVT, интеграции, безопасность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10746939" y="3273504"/>
            <a:ext cx="3102054" cy="2698909"/>
          </a:xfrm>
          <a:prstGeom prst="roundRect">
            <a:avLst>
              <a:gd name="adj" fmla="val 542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3" name="Shape 21"/>
          <p:cNvSpPr/>
          <p:nvPr/>
        </p:nvSpPr>
        <p:spPr>
          <a:xfrm>
            <a:off x="10746939" y="3243024"/>
            <a:ext cx="3102054" cy="121920"/>
          </a:xfrm>
          <a:prstGeom prst="roundRect">
            <a:avLst>
              <a:gd name="adj" fmla="val 27471"/>
            </a:avLst>
          </a:prstGeom>
          <a:solidFill>
            <a:srgbClr val="2150F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4" name="Shape 22"/>
          <p:cNvSpPr/>
          <p:nvPr/>
        </p:nvSpPr>
        <p:spPr>
          <a:xfrm>
            <a:off x="11963044" y="2938581"/>
            <a:ext cx="669846" cy="669846"/>
          </a:xfrm>
          <a:prstGeom prst="roundRect">
            <a:avLst>
              <a:gd name="adj" fmla="val 136509"/>
            </a:avLst>
          </a:prstGeom>
          <a:solidFill>
            <a:srgbClr val="2150F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12164021" y="3105983"/>
            <a:ext cx="267891" cy="33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4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1000662" y="3831669"/>
            <a:ext cx="2594610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Реализация</a:t>
            </a:r>
            <a:endParaRPr lang="en-US" sz="2150" dirty="0"/>
          </a:p>
        </p:txBody>
      </p:sp>
      <p:sp>
        <p:nvSpPr>
          <p:cNvPr id="27" name="Text 25"/>
          <p:cNvSpPr/>
          <p:nvPr/>
        </p:nvSpPr>
        <p:spPr>
          <a:xfrm>
            <a:off x="11000662" y="4312324"/>
            <a:ext cx="259461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Серверная логика, API, миграции БД</a:t>
            </a:r>
            <a:endParaRPr lang="en-US" sz="1750" dirty="0"/>
          </a:p>
        </p:txBody>
      </p:sp>
      <p:sp>
        <p:nvSpPr>
          <p:cNvPr id="31" name="Text 29"/>
          <p:cNvSpPr/>
          <p:nvPr/>
        </p:nvSpPr>
        <p:spPr>
          <a:xfrm>
            <a:off x="7181256" y="6359604"/>
            <a:ext cx="267891" cy="33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5</a:t>
            </a:r>
            <a:endParaRPr lang="en-US" sz="2100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7F167B0A-8238-6E0A-F8D4-5030E37150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5228" y="7094145"/>
            <a:ext cx="3915321" cy="10764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03878"/>
            <a:ext cx="742080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Используемые технологии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011329"/>
            <a:ext cx="4885015" cy="32557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39828" y="2756892"/>
            <a:ext cx="7604284" cy="213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Tx/>
              <a:buChar char="‒"/>
            </a:pPr>
            <a:r>
              <a:rPr lang="en-US" sz="17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Язык:</a:t>
            </a: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Python — читаемость, экосистема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FontTx/>
              <a:buChar char="‒"/>
            </a:pPr>
            <a:r>
              <a:rPr lang="en-US" sz="17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Фреймворк:</a:t>
            </a: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Django — быстрый MVT, встроенный ORM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FontTx/>
              <a:buChar char="‒"/>
            </a:pPr>
            <a:r>
              <a:rPr lang="en-US" sz="17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БД:</a:t>
            </a: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SQLite — простота разработки и тестирования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FontTx/>
              <a:buChar char="‒"/>
            </a:pPr>
            <a:r>
              <a:rPr lang="en-US" sz="17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IDE:</a:t>
            </a: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Visual Studio Code — плагины, отладка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FontTx/>
              <a:buChar char="‒"/>
            </a:pPr>
            <a:r>
              <a:rPr lang="en-US" sz="17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Паттерн:</a:t>
            </a: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MVT — четкое разделение ответственности</a:t>
            </a:r>
            <a:endParaRPr lang="en-US" sz="175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D17E4B4-017C-7638-9E70-A6487838BB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3205" y="7153125"/>
            <a:ext cx="3915321" cy="10764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9025" y="684609"/>
            <a:ext cx="7817525" cy="6866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43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Основные сущности системы</a:t>
            </a:r>
            <a:endParaRPr lang="en-US" sz="4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9025" y="3969722"/>
            <a:ext cx="549235" cy="54923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69025" y="2612112"/>
            <a:ext cx="2746653" cy="3432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User</a:t>
            </a:r>
            <a:endParaRPr lang="en-US" sz="2150" dirty="0"/>
          </a:p>
        </p:txBody>
      </p:sp>
      <p:sp>
        <p:nvSpPr>
          <p:cNvPr id="5" name="Text 2"/>
          <p:cNvSpPr/>
          <p:nvPr/>
        </p:nvSpPr>
        <p:spPr>
          <a:xfrm>
            <a:off x="769025" y="3083004"/>
            <a:ext cx="6413182" cy="346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Аутентификация, профиль, настройки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7448193" y="2612112"/>
            <a:ext cx="2746653" cy="3432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Family</a:t>
            </a:r>
            <a:endParaRPr lang="en-US" sz="2150" dirty="0"/>
          </a:p>
        </p:txBody>
      </p:sp>
      <p:sp>
        <p:nvSpPr>
          <p:cNvPr id="8" name="Text 4"/>
          <p:cNvSpPr/>
          <p:nvPr/>
        </p:nvSpPr>
        <p:spPr>
          <a:xfrm>
            <a:off x="7448193" y="3083004"/>
            <a:ext cx="6413182" cy="346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Группа пользователей, общие бюджеты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769025" y="4669988"/>
            <a:ext cx="2746653" cy="3432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FamilyMember</a:t>
            </a:r>
            <a:endParaRPr lang="en-US" sz="2150" dirty="0"/>
          </a:p>
        </p:txBody>
      </p:sp>
      <p:sp>
        <p:nvSpPr>
          <p:cNvPr id="11" name="Text 6"/>
          <p:cNvSpPr/>
          <p:nvPr/>
        </p:nvSpPr>
        <p:spPr>
          <a:xfrm>
            <a:off x="769025" y="5140881"/>
            <a:ext cx="6413182" cy="346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Роль участника, права доступа</a:t>
            </a:r>
            <a:endParaRPr lang="en-US" sz="17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8193" y="3854768"/>
            <a:ext cx="549235" cy="54923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48193" y="4669988"/>
            <a:ext cx="2746653" cy="3432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Category</a:t>
            </a:r>
            <a:endParaRPr lang="en-US" sz="2150" dirty="0"/>
          </a:p>
        </p:txBody>
      </p:sp>
      <p:sp>
        <p:nvSpPr>
          <p:cNvPr id="14" name="Text 8"/>
          <p:cNvSpPr/>
          <p:nvPr/>
        </p:nvSpPr>
        <p:spPr>
          <a:xfrm>
            <a:off x="7448193" y="5140881"/>
            <a:ext cx="6413182" cy="346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Типы расходов/доходов</a:t>
            </a:r>
            <a:endParaRPr lang="en-US" sz="17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9025" y="5912644"/>
            <a:ext cx="549235" cy="54923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69025" y="6727865"/>
            <a:ext cx="2746653" cy="3432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Transaction</a:t>
            </a:r>
            <a:endParaRPr lang="en-US" sz="2150" dirty="0"/>
          </a:p>
        </p:txBody>
      </p:sp>
      <p:sp>
        <p:nvSpPr>
          <p:cNvPr id="17" name="Text 10"/>
          <p:cNvSpPr/>
          <p:nvPr/>
        </p:nvSpPr>
        <p:spPr>
          <a:xfrm>
            <a:off x="769025" y="7198757"/>
            <a:ext cx="6413182" cy="346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Дата, сумма, категория, участник</a:t>
            </a:r>
            <a:endParaRPr lang="en-US" sz="17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48193" y="5912644"/>
            <a:ext cx="549235" cy="54923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448193" y="6727865"/>
            <a:ext cx="2746653" cy="3432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Budget</a:t>
            </a:r>
            <a:endParaRPr lang="en-US" sz="2150" dirty="0"/>
          </a:p>
        </p:txBody>
      </p:sp>
      <p:sp>
        <p:nvSpPr>
          <p:cNvPr id="20" name="Text 12"/>
          <p:cNvSpPr/>
          <p:nvPr/>
        </p:nvSpPr>
        <p:spPr>
          <a:xfrm>
            <a:off x="7448193" y="7198757"/>
            <a:ext cx="6413182" cy="346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Лимиты по категориям и периоду</a:t>
            </a:r>
            <a:endParaRPr lang="en-US" sz="1700" dirty="0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3574B7FE-04E5-C42D-BBEC-84C3C251CD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18429" y="7665993"/>
            <a:ext cx="1751676" cy="481604"/>
          </a:xfrm>
          <a:prstGeom prst="rect">
            <a:avLst/>
          </a:prstGeom>
        </p:spPr>
      </p:pic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609040D0-BC4A-BE63-A133-D368FD33AF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01739" y="1796891"/>
            <a:ext cx="549235" cy="549235"/>
          </a:xfrm>
          <a:prstGeom prst="rect">
            <a:avLst/>
          </a:prstGeom>
        </p:spPr>
      </p:pic>
      <p:pic>
        <p:nvPicPr>
          <p:cNvPr id="24" name="Image 0" descr="preencoded.png">
            <a:extLst>
              <a:ext uri="{FF2B5EF4-FFF2-40B4-BE49-F238E27FC236}">
                <a16:creationId xmlns:a16="http://schemas.microsoft.com/office/drawing/2014/main" id="{94606D0A-E123-A6B7-848F-E7E02A24C4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9024" y="1983343"/>
            <a:ext cx="549235" cy="5492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46014" y="483156"/>
            <a:ext cx="6544747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Архитектура приложения (MVT)</a:t>
            </a:r>
            <a:endParaRPr lang="en-US" sz="3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014" y="1269921"/>
            <a:ext cx="11738253" cy="609480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79167" y="3658622"/>
            <a:ext cx="1555065" cy="1303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050" dirty="0">
                <a:solidFill>
                  <a:srgbClr val="FFFFF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Архитектура MVT приложения</a:t>
            </a:r>
            <a:endParaRPr lang="en-US" sz="20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48818" y="2886211"/>
            <a:ext cx="294769" cy="2947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723809" y="2527708"/>
            <a:ext cx="2537766" cy="3259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Model</a:t>
            </a:r>
            <a:endParaRPr lang="en-US" sz="2050" dirty="0"/>
          </a:p>
        </p:txBody>
      </p:sp>
      <p:sp>
        <p:nvSpPr>
          <p:cNvPr id="7" name="Text 3"/>
          <p:cNvSpPr/>
          <p:nvPr/>
        </p:nvSpPr>
        <p:spPr>
          <a:xfrm>
            <a:off x="1723809" y="2946323"/>
            <a:ext cx="2537766" cy="228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ORM, таблицы, миграции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0368435" y="2527708"/>
            <a:ext cx="2537765" cy="3259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View</a:t>
            </a:r>
            <a:endParaRPr lang="en-US" sz="2050" dirty="0"/>
          </a:p>
        </p:txBody>
      </p:sp>
      <p:sp>
        <p:nvSpPr>
          <p:cNvPr id="9" name="Text 5"/>
          <p:cNvSpPr/>
          <p:nvPr/>
        </p:nvSpPr>
        <p:spPr>
          <a:xfrm>
            <a:off x="10368435" y="2946323"/>
            <a:ext cx="2537765" cy="456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Обработка запросов и бизнес-логика</a:t>
            </a:r>
            <a:endParaRPr lang="en-US" sz="16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53107" y="2260460"/>
            <a:ext cx="294769" cy="294769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04183" y="5412388"/>
            <a:ext cx="294769" cy="294769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723809" y="5239293"/>
            <a:ext cx="2537766" cy="3259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Template</a:t>
            </a:r>
            <a:endParaRPr lang="en-US" sz="2050" dirty="0"/>
          </a:p>
        </p:txBody>
      </p:sp>
      <p:sp>
        <p:nvSpPr>
          <p:cNvPr id="13" name="Text 7"/>
          <p:cNvSpPr/>
          <p:nvPr/>
        </p:nvSpPr>
        <p:spPr>
          <a:xfrm>
            <a:off x="1723809" y="5657909"/>
            <a:ext cx="2537766" cy="456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Шаблоны HTML для отображения</a:t>
            </a:r>
            <a:endParaRPr lang="en-US" sz="1600" dirty="0"/>
          </a:p>
        </p:txBody>
      </p:sp>
      <p:sp>
        <p:nvSpPr>
          <p:cNvPr id="14" name="Text 8"/>
          <p:cNvSpPr/>
          <p:nvPr/>
        </p:nvSpPr>
        <p:spPr>
          <a:xfrm>
            <a:off x="10368435" y="5239293"/>
            <a:ext cx="2537765" cy="3259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Доп. слои</a:t>
            </a:r>
            <a:endParaRPr lang="en-US" sz="2050" dirty="0"/>
          </a:p>
        </p:txBody>
      </p:sp>
      <p:sp>
        <p:nvSpPr>
          <p:cNvPr id="15" name="Text 9"/>
          <p:cNvSpPr/>
          <p:nvPr/>
        </p:nvSpPr>
        <p:spPr>
          <a:xfrm>
            <a:off x="10368435" y="5657909"/>
            <a:ext cx="2537765" cy="456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Аутентификация, API, фоновые задачи</a:t>
            </a:r>
            <a:endParaRPr lang="en-US" sz="16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42806" y="6374190"/>
            <a:ext cx="294769" cy="294769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1244C3D-9DEB-DFB2-DE61-93B9E847F1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818429" y="7665993"/>
            <a:ext cx="1751676" cy="48160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6905" y="553760"/>
            <a:ext cx="8885158" cy="575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IDEF0 — процесс управления бюджетом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6512662" y="3703604"/>
            <a:ext cx="1564102" cy="1072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250" dirty="0">
                <a:solidFill>
                  <a:srgbClr val="FFFFFF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Управление бюджетом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956905" y="7408545"/>
            <a:ext cx="12716470" cy="2671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IDEF0 помогает формализовать функции: сбор данных → валидация → обработка → отчетность</a:t>
            </a:r>
            <a:endParaRPr lang="en-US" sz="1450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A7B4CED-81E2-BAC6-F5F9-CDC40FAE9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8429" y="7665993"/>
            <a:ext cx="1751676" cy="481604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C49CB4D4-B737-F40C-3E71-1F8BECFDF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0829" y="7818393"/>
            <a:ext cx="1751676" cy="48160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BE98BFE3-879B-DF21-9F1B-451F0380921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65"/>
          <a:stretch>
            <a:fillRect/>
          </a:stretch>
        </p:blipFill>
        <p:spPr bwMode="auto">
          <a:xfrm>
            <a:off x="956905" y="1248313"/>
            <a:ext cx="5811520" cy="405003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0E538967-1B19-1CB4-5374-CFDD6376A5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3842" y="2609813"/>
            <a:ext cx="5940425" cy="4199255"/>
          </a:xfrm>
          <a:prstGeom prst="rect">
            <a:avLst/>
          </a:prstGeom>
        </p:spPr>
      </p:pic>
      <p:sp>
        <p:nvSpPr>
          <p:cNvPr id="18" name="Text 10">
            <a:extLst>
              <a:ext uri="{FF2B5EF4-FFF2-40B4-BE49-F238E27FC236}">
                <a16:creationId xmlns:a16="http://schemas.microsoft.com/office/drawing/2014/main" id="{EDB5B821-4135-441E-84AF-441303935EA5}"/>
              </a:ext>
            </a:extLst>
          </p:cNvPr>
          <p:cNvSpPr/>
          <p:nvPr/>
        </p:nvSpPr>
        <p:spPr>
          <a:xfrm>
            <a:off x="2043522" y="5435739"/>
            <a:ext cx="4724903" cy="2671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ru-RU" sz="1450" dirty="0">
                <a:cs typeface="Heebo" pitchFamily="2" charset="-79"/>
              </a:rPr>
              <a:t>Процесс «Управление семейным бюджетом»</a:t>
            </a:r>
            <a:endParaRPr lang="en-US" sz="145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0BEB4718-3954-E0AB-1CA5-EFFE654E2803}"/>
              </a:ext>
            </a:extLst>
          </p:cNvPr>
          <p:cNvSpPr/>
          <p:nvPr/>
        </p:nvSpPr>
        <p:spPr>
          <a:xfrm>
            <a:off x="8419602" y="6901621"/>
            <a:ext cx="4724903" cy="2671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ru-RU" sz="1450" dirty="0">
                <a:cs typeface="Heebo" pitchFamily="2" charset="-79"/>
              </a:rPr>
              <a:t>Декомпозиция процесса «Управление семейным бюджетом»</a:t>
            </a:r>
            <a:endParaRPr lang="en-US" sz="1450" dirty="0">
              <a:latin typeface="Heebo" pitchFamily="2" charset="-79"/>
              <a:cs typeface="Heebo" pitchFamily="2" charset="-79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6905" y="549473"/>
            <a:ext cx="6158151" cy="575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ER-диаграмма базы данных</a:t>
            </a:r>
            <a:endParaRPr lang="en-US" sz="36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2157DDD-1F1E-22C0-698C-7690C02FE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8429" y="7665993"/>
            <a:ext cx="1751676" cy="48160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E13AE4C-ECBF-EB49-C261-30175F0192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4987" y="1405890"/>
            <a:ext cx="5940425" cy="5417820"/>
          </a:xfrm>
          <a:prstGeom prst="rect">
            <a:avLst/>
          </a:prstGeom>
        </p:spPr>
      </p:pic>
      <p:sp>
        <p:nvSpPr>
          <p:cNvPr id="13" name="Text 10">
            <a:extLst>
              <a:ext uri="{FF2B5EF4-FFF2-40B4-BE49-F238E27FC236}">
                <a16:creationId xmlns:a16="http://schemas.microsoft.com/office/drawing/2014/main" id="{B0C6E6E9-7682-C266-2899-15871F69F45E}"/>
              </a:ext>
            </a:extLst>
          </p:cNvPr>
          <p:cNvSpPr/>
          <p:nvPr/>
        </p:nvSpPr>
        <p:spPr>
          <a:xfrm>
            <a:off x="5914295" y="6823710"/>
            <a:ext cx="4724903" cy="2671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00"/>
              </a:lnSpc>
            </a:pPr>
            <a:r>
              <a:rPr lang="ru-RU" dirty="0">
                <a:cs typeface="Heebo" pitchFamily="2" charset="-79"/>
              </a:rPr>
              <a:t>Физическая схема базы данных</a:t>
            </a:r>
            <a:endParaRPr lang="en-US" sz="1450" dirty="0">
              <a:latin typeface="Heebo" pitchFamily="2" charset="-79"/>
              <a:cs typeface="Heebo" pitchFamily="2" charset="-79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8604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Серверная логика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848451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2" charset="-79"/>
                <a:ea typeface="Crimson Pro Light" pitchFamily="34" charset="-122"/>
                <a:cs typeface="Heebo" pitchFamily="2" charset="-79"/>
              </a:rPr>
              <a:t>01</a:t>
            </a:r>
            <a:endParaRPr lang="en-US" sz="175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93790" y="3203496"/>
            <a:ext cx="4196358" cy="30480"/>
          </a:xfrm>
          <a:prstGeom prst="rect">
            <a:avLst/>
          </a:prstGeom>
          <a:solidFill>
            <a:srgbClr val="2150F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793790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Аутентификация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3868222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Регистрация, JWT/Session, права доступа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5216962" y="2848451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2" charset="-79"/>
                <a:ea typeface="Crimson Pro Light" pitchFamily="34" charset="-122"/>
                <a:cs typeface="Heebo" pitchFamily="2" charset="-79"/>
              </a:rPr>
              <a:t>02</a:t>
            </a:r>
            <a:endParaRPr lang="en-US" sz="175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216962" y="3203496"/>
            <a:ext cx="4196358" cy="30480"/>
          </a:xfrm>
          <a:prstGeom prst="rect">
            <a:avLst/>
          </a:prstGeom>
          <a:solidFill>
            <a:srgbClr val="2150F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5216962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Группы и роли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216962" y="3868222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Создание и управление семейными группами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640133" y="2848451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2" charset="-79"/>
                <a:ea typeface="Crimson Pro Light" pitchFamily="34" charset="-122"/>
                <a:cs typeface="Heebo" pitchFamily="2" charset="-79"/>
              </a:rPr>
              <a:t>03</a:t>
            </a:r>
            <a:endParaRPr lang="en-US" sz="175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640133" y="3203496"/>
            <a:ext cx="4196358" cy="30480"/>
          </a:xfrm>
          <a:prstGeom prst="rect">
            <a:avLst/>
          </a:prstGeom>
          <a:solidFill>
            <a:srgbClr val="2150F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9640133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Транзакции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40133" y="3868222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CRUD, валидация, связка с категорией и участником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93790" y="4990862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2" charset="-79"/>
                <a:ea typeface="Crimson Pro Light" pitchFamily="34" charset="-122"/>
                <a:cs typeface="Heebo" pitchFamily="2" charset="-79"/>
              </a:rPr>
              <a:t>04</a:t>
            </a:r>
            <a:endParaRPr lang="en-US" sz="175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93790" y="5345906"/>
            <a:ext cx="6407944" cy="30480"/>
          </a:xfrm>
          <a:prstGeom prst="rect">
            <a:avLst/>
          </a:prstGeom>
          <a:solidFill>
            <a:srgbClr val="2150F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793790" y="552021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Отчеты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93790" y="6010632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Агрегации, фильтры по периоду, экспорт CSV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7428548" y="4990862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2" charset="-79"/>
                <a:ea typeface="Crimson Pro Light" pitchFamily="34" charset="-122"/>
                <a:cs typeface="Heebo" pitchFamily="2" charset="-79"/>
              </a:rPr>
              <a:t>05</a:t>
            </a:r>
            <a:endParaRPr lang="en-US" sz="175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428548" y="5345906"/>
            <a:ext cx="6407944" cy="30480"/>
          </a:xfrm>
          <a:prstGeom prst="rect">
            <a:avLst/>
          </a:prstGeom>
          <a:solidFill>
            <a:srgbClr val="2150F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1" name="Text 19"/>
          <p:cNvSpPr/>
          <p:nvPr/>
        </p:nvSpPr>
        <p:spPr>
          <a:xfrm>
            <a:off x="7428548" y="552021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Интеграции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28548" y="6010632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Импорт/экспорт, фоновые задачи (Celery)</a:t>
            </a:r>
            <a:endParaRPr lang="en-US" sz="1750" dirty="0"/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1BC0D527-4C69-6F21-74D0-5DF8A47FE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8429" y="7665993"/>
            <a:ext cx="1751676" cy="4816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92837" y="1139415"/>
            <a:ext cx="782395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Основные функции системы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569395" y="2645329"/>
            <a:ext cx="6745805" cy="23298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  <a:buSzPct val="100000"/>
            </a:pPr>
            <a:r>
              <a:rPr lang="ru-RU" sz="240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Пользовательские функции</a:t>
            </a:r>
          </a:p>
          <a:p>
            <a:pPr marL="342900" indent="-342900">
              <a:lnSpc>
                <a:spcPct val="150000"/>
              </a:lnSpc>
              <a:buSzPct val="100000"/>
              <a:buFont typeface="Heebo" pitchFamily="2" charset="-79"/>
              <a:buChar char="–"/>
            </a:pPr>
            <a:r>
              <a:rPr lang="ru-RU" sz="2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Регистрация и вход в систему</a:t>
            </a:r>
          </a:p>
          <a:p>
            <a:pPr marL="342900" indent="-342900">
              <a:lnSpc>
                <a:spcPct val="150000"/>
              </a:lnSpc>
              <a:buSzPct val="100000"/>
              <a:buFont typeface="Heebo" pitchFamily="2" charset="-79"/>
              <a:buChar char="–"/>
            </a:pPr>
            <a:r>
              <a:rPr lang="ru-RU" sz="2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Создание семейных групп</a:t>
            </a:r>
          </a:p>
          <a:p>
            <a:pPr marL="342900" indent="-342900">
              <a:lnSpc>
                <a:spcPct val="150000"/>
              </a:lnSpc>
              <a:buSzPct val="100000"/>
              <a:buFont typeface="Heebo" pitchFamily="2" charset="-79"/>
              <a:buChar char="–"/>
            </a:pPr>
            <a:r>
              <a:rPr lang="ru-RU" sz="2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Добавление транзакций (доходы и расходы)</a:t>
            </a:r>
          </a:p>
          <a:p>
            <a:pPr marL="342900" indent="-342900">
              <a:lnSpc>
                <a:spcPct val="150000"/>
              </a:lnSpc>
              <a:buSzPct val="100000"/>
              <a:buFont typeface="Heebo" pitchFamily="2" charset="-79"/>
              <a:buChar char="–"/>
            </a:pPr>
            <a:r>
              <a:rPr lang="ru-RU" sz="2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Управление категориями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801531-A281-63F9-0EC7-58FB365E9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8429" y="7665993"/>
            <a:ext cx="1751676" cy="481604"/>
          </a:xfrm>
          <a:prstGeom prst="rect">
            <a:avLst/>
          </a:prstGeom>
        </p:spPr>
      </p:pic>
      <p:sp>
        <p:nvSpPr>
          <p:cNvPr id="11" name="Text 1">
            <a:extLst>
              <a:ext uri="{FF2B5EF4-FFF2-40B4-BE49-F238E27FC236}">
                <a16:creationId xmlns:a16="http://schemas.microsoft.com/office/drawing/2014/main" id="{77C9A499-B7BB-C224-DCB9-0AA01AE56068}"/>
              </a:ext>
            </a:extLst>
          </p:cNvPr>
          <p:cNvSpPr/>
          <p:nvPr/>
        </p:nvSpPr>
        <p:spPr>
          <a:xfrm>
            <a:off x="7491908" y="2876985"/>
            <a:ext cx="6745805" cy="23298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  <a:buSzPct val="100000"/>
            </a:pPr>
            <a:r>
              <a:rPr lang="ru-RU" sz="240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Финансовый анализ</a:t>
            </a:r>
          </a:p>
          <a:p>
            <a:pPr marL="342900" indent="-342900">
              <a:lnSpc>
                <a:spcPct val="150000"/>
              </a:lnSpc>
              <a:buSzPct val="100000"/>
              <a:buFont typeface="Heebo" pitchFamily="2" charset="-79"/>
              <a:buChar char="–"/>
            </a:pPr>
            <a:r>
              <a:rPr lang="ru-RU" sz="2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Установка бюджетных лимитов</a:t>
            </a:r>
          </a:p>
          <a:p>
            <a:pPr marL="342900" indent="-342900">
              <a:lnSpc>
                <a:spcPct val="150000"/>
              </a:lnSpc>
              <a:buSzPct val="100000"/>
              <a:buFont typeface="Heebo" pitchFamily="2" charset="-79"/>
              <a:buChar char="–"/>
            </a:pPr>
            <a:r>
              <a:rPr lang="ru-RU" sz="2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Контроль превышения бюджета</a:t>
            </a:r>
          </a:p>
          <a:p>
            <a:pPr marL="342900" indent="-342900">
              <a:lnSpc>
                <a:spcPct val="150000"/>
              </a:lnSpc>
              <a:buSzPct val="100000"/>
              <a:buFont typeface="Heebo" pitchFamily="2" charset="-79"/>
              <a:buChar char="–"/>
            </a:pPr>
            <a:r>
              <a:rPr lang="ru-RU" sz="2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Формирование отчётов</a:t>
            </a:r>
          </a:p>
          <a:p>
            <a:pPr marL="342900" indent="-342900">
              <a:lnSpc>
                <a:spcPct val="150000"/>
              </a:lnSpc>
              <a:buSzPct val="100000"/>
              <a:buFont typeface="Heebo" pitchFamily="2" charset="-79"/>
              <a:buChar char="–"/>
            </a:pPr>
            <a:r>
              <a:rPr lang="ru-RU" sz="2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Импорт и экспорт данных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156246" y="642461"/>
            <a:ext cx="4784646" cy="598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Интерфейс системы</a:t>
            </a:r>
            <a:endParaRPr lang="en-US" sz="3750" dirty="0"/>
          </a:p>
        </p:txBody>
      </p:sp>
      <p:sp>
        <p:nvSpPr>
          <p:cNvPr id="4" name="Text 1"/>
          <p:cNvSpPr/>
          <p:nvPr/>
        </p:nvSpPr>
        <p:spPr>
          <a:xfrm>
            <a:off x="6156246" y="1627942"/>
            <a:ext cx="3668673" cy="19752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Регистрация / Вход</a:t>
            </a:r>
            <a:endParaRPr lang="en-US" sz="1500" dirty="0"/>
          </a:p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Управление семьей</a:t>
            </a:r>
            <a:endParaRPr lang="en-US" sz="1500" dirty="0"/>
          </a:p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Список и фильтрация транзакций</a:t>
            </a:r>
            <a:endParaRPr lang="en-US" sz="1500" dirty="0"/>
          </a:p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Форма создания операции</a:t>
            </a:r>
            <a:endParaRPr lang="en-US" sz="1500" dirty="0"/>
          </a:p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Категории и бюджеты</a:t>
            </a:r>
            <a:endParaRPr lang="en-US" sz="1500" dirty="0"/>
          </a:p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Просмотр отчетов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10299502" y="2477452"/>
            <a:ext cx="3668673" cy="1407438"/>
          </a:xfrm>
          <a:prstGeom prst="roundRect">
            <a:avLst>
              <a:gd name="adj" fmla="val 2040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6" name="Text 3"/>
          <p:cNvSpPr/>
          <p:nvPr/>
        </p:nvSpPr>
        <p:spPr>
          <a:xfrm>
            <a:off x="10490835" y="2668785"/>
            <a:ext cx="2392323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UX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10490835" y="3129200"/>
            <a:ext cx="3286006" cy="564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Простые формы, валидация, подсказки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0299502" y="4046338"/>
            <a:ext cx="3668673" cy="1125260"/>
          </a:xfrm>
          <a:prstGeom prst="roundRect">
            <a:avLst>
              <a:gd name="adj" fmla="val 2551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Text 6"/>
          <p:cNvSpPr/>
          <p:nvPr/>
        </p:nvSpPr>
        <p:spPr>
          <a:xfrm>
            <a:off x="10490835" y="4237672"/>
            <a:ext cx="2392323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Адаптивность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10490835" y="4698086"/>
            <a:ext cx="3286006" cy="282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Работа на мобильных и десктопах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0299502" y="5333047"/>
            <a:ext cx="3668673" cy="1407438"/>
          </a:xfrm>
          <a:prstGeom prst="roundRect">
            <a:avLst>
              <a:gd name="adj" fmla="val 2040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2" name="Text 9"/>
          <p:cNvSpPr/>
          <p:nvPr/>
        </p:nvSpPr>
        <p:spPr>
          <a:xfrm>
            <a:off x="10490835" y="5524380"/>
            <a:ext cx="2392323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Безопасность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10490835" y="5984795"/>
            <a:ext cx="3286006" cy="564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SSL, ограничения доступа, резервное копирование</a:t>
            </a:r>
            <a:endParaRPr lang="en-US" sz="1500" dirty="0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D44577D-9B02-4C75-41FC-CC1093013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8429" y="7665993"/>
            <a:ext cx="1751676" cy="481604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928D9C6D-89B5-1664-64BC-0004E480BF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587" t="5813" r="14682"/>
          <a:stretch>
            <a:fillRect/>
          </a:stretch>
        </p:blipFill>
        <p:spPr>
          <a:xfrm>
            <a:off x="263616" y="248721"/>
            <a:ext cx="5942087" cy="3354468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EF2E5695-D09E-25BA-E410-E61C756C9AC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446" t="5934" r="16854"/>
          <a:stretch>
            <a:fillRect/>
          </a:stretch>
        </p:blipFill>
        <p:spPr>
          <a:xfrm>
            <a:off x="388351" y="3925142"/>
            <a:ext cx="5692616" cy="391551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B12CBB5-E901-0836-379C-81A183DA32A0}"/>
              </a:ext>
            </a:extLst>
          </p:cNvPr>
          <p:cNvSpPr/>
          <p:nvPr/>
        </p:nvSpPr>
        <p:spPr>
          <a:xfrm>
            <a:off x="4607937" y="2347845"/>
            <a:ext cx="4784646" cy="598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ru-RU" sz="37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Спасибо за внимание!</a:t>
            </a:r>
            <a:endParaRPr lang="en-US" sz="375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3DDB709-110C-FF25-EE93-30B33933A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8429" y="7665993"/>
            <a:ext cx="1751676" cy="481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4408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426</Words>
  <Application>Microsoft Office PowerPoint</Application>
  <PresentationFormat>Произвольный</PresentationFormat>
  <Paragraphs>115</Paragraphs>
  <Slides>12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Heebo</vt:lpstr>
      <vt:lpstr>Times New Roman</vt:lpstr>
      <vt:lpstr>Crimson Pro Semi Bold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Никита Дицель</cp:lastModifiedBy>
  <cp:revision>21</cp:revision>
  <dcterms:created xsi:type="dcterms:W3CDTF">2026-04-21T20:30:45Z</dcterms:created>
  <dcterms:modified xsi:type="dcterms:W3CDTF">2026-04-21T20:57:08Z</dcterms:modified>
</cp:coreProperties>
</file>