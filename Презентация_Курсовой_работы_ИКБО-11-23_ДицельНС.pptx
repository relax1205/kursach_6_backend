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5143500" type="screen16x9"/>
  <p:notesSz cx="5143500" cy="9144000"/>
  <p:embeddedFontLst>
    <p:embeddedFont>
      <p:font typeface="Crimson Pro Semi Bold" panose="020B0604020202020204" charset="0"/>
      <p:regular r:id="rId15"/>
    </p:embeddedFont>
    <p:embeddedFont>
      <p:font typeface="Heebo" pitchFamily="2" charset="-79"/>
      <p:regular r:id="rId16"/>
      <p:bold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162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2.png"/><Relationship Id="rId5" Type="http://schemas.openxmlformats.org/officeDocument/2006/relationships/image" Target="../media/image13.sv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7DEA26-AE6E-374C-0968-D7F0E2A51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278" y="4433698"/>
            <a:ext cx="2447076" cy="67279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AC8217-9C01-8673-90C9-871CC9979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048775" y="178288"/>
            <a:ext cx="1046450" cy="1180610"/>
          </a:xfrm>
          <a:prstGeom prst="rect">
            <a:avLst/>
          </a:prstGeom>
          <a:noFill/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312717BD-EB98-B73C-4381-F8656B299CC0}"/>
              </a:ext>
            </a:extLst>
          </p:cNvPr>
          <p:cNvSpPr/>
          <p:nvPr/>
        </p:nvSpPr>
        <p:spPr>
          <a:xfrm>
            <a:off x="206242" y="2571750"/>
            <a:ext cx="8151763" cy="128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ru-RU" sz="1600" dirty="0"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Курсовая работа по дисциплине «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Бэкенд-разработка»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работы: «Разработка серверной части веб-приложения для планирования семейного бюджета»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Подготовил: Дицель Н. С.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ИКБО-11-23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Преподаватель: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Волков М.Ю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03B2D8F-37C8-7417-EA78-1D5944C224A7}"/>
              </a:ext>
            </a:extLst>
          </p:cNvPr>
          <p:cNvSpPr/>
          <p:nvPr/>
        </p:nvSpPr>
        <p:spPr>
          <a:xfrm>
            <a:off x="2416131" y="1422687"/>
            <a:ext cx="4311738" cy="30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1125" b="1" dirty="0"/>
              <a:t>«МИРЭА – Российский технологический университет»</a:t>
            </a:r>
            <a:r>
              <a:rPr lang="en-US" sz="1125" dirty="0"/>
              <a:t> </a:t>
            </a:r>
            <a:r>
              <a:rPr lang="ru-RU" sz="1125" b="1" dirty="0"/>
              <a:t>РТУ МИРЭА</a:t>
            </a:r>
            <a:endParaRPr lang="ru-RU" sz="1125" dirty="0"/>
          </a:p>
        </p:txBody>
      </p:sp>
      <p:grpSp>
        <p:nvGrpSpPr>
          <p:cNvPr id="2049" name="Полотно 3"/>
          <p:cNvGrpSpPr>
            <a:grpSpLocks/>
          </p:cNvGrpSpPr>
          <p:nvPr/>
        </p:nvGrpSpPr>
        <p:grpSpPr bwMode="auto">
          <a:xfrm>
            <a:off x="0" y="0"/>
            <a:ext cx="3643313" cy="214313"/>
            <a:chOff x="0" y="0"/>
            <a:chExt cx="58294" cy="3423"/>
          </a:xfrm>
        </p:grpSpPr>
      </p:grp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3643313" cy="214313"/>
            <a:chOff x="0" y="0"/>
            <a:chExt cx="58294" cy="3423"/>
          </a:xfrm>
        </p:grpSpPr>
      </p:grpSp>
      <p:grpSp>
        <p:nvGrpSpPr>
          <p:cNvPr id="2055" name="Group 7"/>
          <p:cNvGrpSpPr>
            <a:grpSpLocks/>
          </p:cNvGrpSpPr>
          <p:nvPr/>
        </p:nvGrpSpPr>
        <p:grpSpPr bwMode="auto">
          <a:xfrm>
            <a:off x="0" y="0"/>
            <a:ext cx="3643313" cy="214313"/>
            <a:chOff x="0" y="0"/>
            <a:chExt cx="58294" cy="3423"/>
          </a:xfrm>
        </p:grpSpPr>
      </p:grpSp>
      <p:grpSp>
        <p:nvGrpSpPr>
          <p:cNvPr id="2058" name="Group 10"/>
          <p:cNvGrpSpPr>
            <a:grpSpLocks/>
          </p:cNvGrpSpPr>
          <p:nvPr/>
        </p:nvGrpSpPr>
        <p:grpSpPr bwMode="auto">
          <a:xfrm>
            <a:off x="0" y="0"/>
            <a:ext cx="3643313" cy="214313"/>
            <a:chOff x="0" y="0"/>
            <a:chExt cx="58294" cy="3423"/>
          </a:xfrm>
        </p:grpSpPr>
      </p:grpSp>
    </p:spTree>
    <p:extLst>
      <p:ext uri="{BB962C8B-B14F-4D97-AF65-F5344CB8AC3E}">
        <p14:creationId xmlns:p14="http://schemas.microsoft.com/office/powerpoint/2010/main" val="115761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4027"/>
            <a:ext cx="44224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Актуальность и проблема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1373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Почему это важно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6119" y="1988939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Контроль доходов и расходов в реальном времени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Совместный доступ нескольких участников семьи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Разграничение прав доступа для разных ролей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Централизованное хранение данных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Финансовая аналитика и отчётность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581373"/>
            <a:ext cx="37058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Проблемы существующих решений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749701" y="1988939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Ограниченная поддержка семейных групп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Слабое разграничение ролей пользователей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Недостаточная гибкость серверной архитектуры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Ориентация на индивидуальное использование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530278"/>
            <a:ext cx="8151763" cy="829196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707457"/>
            <a:ext cx="78660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Цель разработки:</a:t>
            </a: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создание серверной части веб-приложения для планирования семейного бюджета на Django с поддержкой REST API, ролевой модели и бюджетными ограничениями.</a:t>
            </a:r>
            <a:endParaRPr lang="en-US" sz="11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867CBFA-ADF5-4C37-2D87-DE26FD4D8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531" y="4831040"/>
            <a:ext cx="1136469" cy="312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7412"/>
            <a:ext cx="4532561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Сравнительный анализ систем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68735"/>
            <a:ext cx="8151763" cy="3115568"/>
          </a:xfrm>
          <a:prstGeom prst="roundRect">
            <a:avLst>
              <a:gd name="adj" fmla="val 58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073497"/>
            <a:ext cx="8142238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21506" y="1139651"/>
            <a:ext cx="179218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Возможность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59410" y="1139651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CoinKeeper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24995" y="1139651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Zenmoney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90580" y="1139651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Monefy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56165" y="1139651"/>
            <a:ext cx="146647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Наша система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0881" y="1384102"/>
            <a:ext cx="8142238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1506" y="1450256"/>
            <a:ext cx="179218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Учёт доходов и расходов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9410" y="1450256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24995" y="1450256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90580" y="1450256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56165" y="1450256"/>
            <a:ext cx="146647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0881" y="1694706"/>
            <a:ext cx="8142238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1506" y="1760860"/>
            <a:ext cx="179218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Семейный бюджет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59410" y="1760860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△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24995" y="1760860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△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90580" y="1760860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56165" y="1760860"/>
            <a:ext cx="146647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0881" y="2005310"/>
            <a:ext cx="8142238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1506" y="2071464"/>
            <a:ext cx="179218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Разграничение ролей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9410" y="2071464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△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24995" y="2071464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△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90580" y="2071464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56165" y="2071464"/>
            <a:ext cx="146647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0881" y="2315914"/>
            <a:ext cx="8142238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21506" y="2382069"/>
            <a:ext cx="179218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Веб-интерфейс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59410" y="2382069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24995" y="2382069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90580" y="2382069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56165" y="2382069"/>
            <a:ext cx="146647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0881" y="2626519"/>
            <a:ext cx="8142238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21506" y="2692673"/>
            <a:ext cx="179218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Управление категориями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59410" y="2692673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24995" y="2692673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90580" y="2692673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56165" y="2692673"/>
            <a:ext cx="146647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0881" y="2937123"/>
            <a:ext cx="8142238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1506" y="3003277"/>
            <a:ext cx="179218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Бюджетные ограничения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59410" y="3003277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24995" y="3003277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90580" y="3003277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056165" y="3003277"/>
            <a:ext cx="146647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0881" y="3247727"/>
            <a:ext cx="8142238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21506" y="3313881"/>
            <a:ext cx="179218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Импорт/экспорт CSV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659410" y="3313881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24995" y="3313881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90580" y="3313881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56165" y="3313881"/>
            <a:ext cx="146647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0881" y="3558332"/>
            <a:ext cx="8142238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21506" y="3624486"/>
            <a:ext cx="179218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REST API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659410" y="3624486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24995" y="3624486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590580" y="3624486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056165" y="3624486"/>
            <a:ext cx="146647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00881" y="3868936"/>
            <a:ext cx="8142238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21506" y="3935090"/>
            <a:ext cx="179218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Расширяемость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659410" y="3935090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△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24995" y="3935090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△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90580" y="3935090"/>
            <a:ext cx="121987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056165" y="3935090"/>
            <a:ext cx="146647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96119" y="4299496"/>
            <a:ext cx="815176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Вывод: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Разрабатываемая система закрывает недостатки аналогов за счёт семейных групп, ролевой модели, серверной логики, REST API и контроля бюджетных ограничений.</a:t>
            </a:r>
            <a:endParaRPr lang="en-US" sz="900" dirty="0"/>
          </a:p>
        </p:txBody>
      </p:sp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DFC454C9-A931-C7B6-F8A0-C2BBF02D9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531" y="4831040"/>
            <a:ext cx="1136469" cy="312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2901" y="610791"/>
            <a:ext cx="4717703" cy="40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Пользователи и роли системы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472901" y="1186235"/>
            <a:ext cx="2326481" cy="1810792"/>
          </a:xfrm>
          <a:prstGeom prst="roundRect">
            <a:avLst>
              <a:gd name="adj" fmla="val 1063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601266" y="1314599"/>
            <a:ext cx="385093" cy="385093"/>
          </a:xfrm>
          <a:prstGeom prst="roundRect">
            <a:avLst>
              <a:gd name="adj" fmla="val 14839087"/>
            </a:avLst>
          </a:prstGeom>
          <a:solidFill>
            <a:srgbClr val="2150F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157" y="1420490"/>
            <a:ext cx="173236" cy="1732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1266" y="1815852"/>
            <a:ext cx="1604516" cy="2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Владелец семьи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01266" y="2086124"/>
            <a:ext cx="2069753" cy="78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Создание и управление семейной группой, назначение участников, полный контроль бюджета.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915543" y="1186235"/>
            <a:ext cx="2326556" cy="1810792"/>
          </a:xfrm>
          <a:prstGeom prst="roundRect">
            <a:avLst>
              <a:gd name="adj" fmla="val 1063"/>
            </a:avLst>
          </a:prstGeom>
          <a:solidFill>
            <a:srgbClr val="F2EEEE"/>
          </a:solidFill>
          <a:ln/>
        </p:spPr>
      </p:sp>
      <p:sp>
        <p:nvSpPr>
          <p:cNvPr id="10" name="Shape 6"/>
          <p:cNvSpPr/>
          <p:nvPr/>
        </p:nvSpPr>
        <p:spPr>
          <a:xfrm>
            <a:off x="3043907" y="1314599"/>
            <a:ext cx="385093" cy="385093"/>
          </a:xfrm>
          <a:prstGeom prst="roundRect">
            <a:avLst>
              <a:gd name="adj" fmla="val 14839087"/>
            </a:avLst>
          </a:prstGeom>
          <a:solidFill>
            <a:srgbClr val="2150F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9798" y="1420490"/>
            <a:ext cx="173236" cy="1732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43907" y="1815852"/>
            <a:ext cx="1604516" cy="2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Участник семьи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3043907" y="2086124"/>
            <a:ext cx="2069827" cy="78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Добавление транзакций, просмотр бюджета, комментирование операций в рамках своей роли.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72901" y="3113187"/>
            <a:ext cx="4769197" cy="1419523"/>
          </a:xfrm>
          <a:prstGeom prst="roundRect">
            <a:avLst>
              <a:gd name="adj" fmla="val 1356"/>
            </a:avLst>
          </a:prstGeom>
          <a:solidFill>
            <a:srgbClr val="F2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601266" y="3241551"/>
            <a:ext cx="385093" cy="385093"/>
          </a:xfrm>
          <a:prstGeom prst="roundRect">
            <a:avLst>
              <a:gd name="adj" fmla="val 14839087"/>
            </a:avLst>
          </a:prstGeom>
          <a:solidFill>
            <a:srgbClr val="2150F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157" y="3347442"/>
            <a:ext cx="173236" cy="1732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1266" y="3742804"/>
            <a:ext cx="1604516" cy="2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Администратор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01266" y="4013076"/>
            <a:ext cx="4512469" cy="39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Управление пользователями, мониторинг системы, доступ к полной статистике и отчётам.</a:t>
            </a:r>
            <a:endParaRPr lang="en-US" sz="10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3AA3155-0546-C4F7-E6FD-1892B5DF7E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7531" y="4831040"/>
            <a:ext cx="1136469" cy="31246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BBF4A20-74B9-8551-8E61-14148E735AA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455" t="4297" r="5650" b="3316"/>
          <a:stretch>
            <a:fillRect/>
          </a:stretch>
        </p:blipFill>
        <p:spPr bwMode="auto">
          <a:xfrm>
            <a:off x="6090939" y="14321"/>
            <a:ext cx="1851278" cy="51291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090" y="74905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 err="1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Архитектура</a:t>
            </a: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</a:t>
            </a:r>
            <a:r>
              <a:rPr lang="en-US" sz="2750" dirty="0" err="1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веб-приложения</a:t>
            </a:r>
            <a:endParaRPr lang="en-US" sz="2750" dirty="0"/>
          </a:p>
        </p:txBody>
      </p:sp>
      <p:sp>
        <p:nvSpPr>
          <p:cNvPr id="15" name="Text 11"/>
          <p:cNvSpPr/>
          <p:nvPr/>
        </p:nvSpPr>
        <p:spPr>
          <a:xfrm>
            <a:off x="496119" y="199216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Приложение построено по </a:t>
            </a:r>
            <a:r>
              <a:rPr lang="en-US" sz="110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паттерну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br>
              <a:rPr lang="ru-RU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</a:b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MVT (Model-View-Template) </a:t>
            </a:r>
            <a:br>
              <a:rPr lang="ru-RU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</a:br>
            <a:r>
              <a:rPr lang="en-US" sz="11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 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поддержкой REST API для клиентских приложений.</a:t>
            </a:r>
            <a:endParaRPr lang="en-US" sz="11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1BA4947-C676-6706-48E7-1A1437489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531" y="4831040"/>
            <a:ext cx="1136469" cy="31246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6D2D72A-C721-8DBD-E368-E55362848A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68" r="9402"/>
          <a:stretch>
            <a:fillRect/>
          </a:stretch>
        </p:blipFill>
        <p:spPr bwMode="auto">
          <a:xfrm>
            <a:off x="5048363" y="73399"/>
            <a:ext cx="4004197" cy="50690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46100"/>
            <a:ext cx="5553224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13"/>
              </a:lnSpc>
            </a:pPr>
            <a:r>
              <a:rPr lang="en-US" sz="2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IDEF0 — процесс управления бюджетом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070414" y="2314753"/>
            <a:ext cx="977564" cy="67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50"/>
              </a:lnSpc>
            </a:pPr>
            <a:r>
              <a:rPr lang="en-US" sz="1406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Управление бюджетом</a:t>
            </a:r>
            <a:endParaRPr lang="en-US" sz="1406" dirty="0"/>
          </a:p>
        </p:txBody>
      </p:sp>
      <p:sp>
        <p:nvSpPr>
          <p:cNvPr id="13" name="Text 10"/>
          <p:cNvSpPr/>
          <p:nvPr/>
        </p:nvSpPr>
        <p:spPr>
          <a:xfrm>
            <a:off x="598066" y="4630341"/>
            <a:ext cx="794779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906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IDEF0 помогает формализовать функции: сбор данных → валидация → обработка → отчетность</a:t>
            </a:r>
            <a:endParaRPr lang="en-US" sz="906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A7B4CED-81E2-BAC6-F5F9-CDC40FAE9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518" y="4791245"/>
            <a:ext cx="1094798" cy="30100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49CB4D4-B737-F40C-3E71-1F8BECFDF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768" y="4886495"/>
            <a:ext cx="1094798" cy="30100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E98BFE3-879B-DF21-9F1B-451F038092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65"/>
          <a:stretch>
            <a:fillRect/>
          </a:stretch>
        </p:blipFill>
        <p:spPr bwMode="auto">
          <a:xfrm>
            <a:off x="598066" y="780196"/>
            <a:ext cx="3632200" cy="25312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E538967-1B19-1CB4-5374-CFDD6376A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151" y="1631134"/>
            <a:ext cx="3712766" cy="2624534"/>
          </a:xfrm>
          <a:prstGeom prst="rect">
            <a:avLst/>
          </a:prstGeom>
        </p:spPr>
      </p:pic>
      <p:sp>
        <p:nvSpPr>
          <p:cNvPr id="18" name="Text 10">
            <a:extLst>
              <a:ext uri="{FF2B5EF4-FFF2-40B4-BE49-F238E27FC236}">
                <a16:creationId xmlns:a16="http://schemas.microsoft.com/office/drawing/2014/main" id="{EDB5B821-4135-441E-84AF-441303935EA5}"/>
              </a:ext>
            </a:extLst>
          </p:cNvPr>
          <p:cNvSpPr/>
          <p:nvPr/>
        </p:nvSpPr>
        <p:spPr>
          <a:xfrm>
            <a:off x="1277202" y="3397337"/>
            <a:ext cx="295306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13"/>
              </a:lnSpc>
            </a:pPr>
            <a:r>
              <a:rPr lang="ru-RU" sz="906" dirty="0">
                <a:cs typeface="Heebo" pitchFamily="2" charset="-79"/>
              </a:rPr>
              <a:t>Процесс «Управление семейным бюджетом»</a:t>
            </a:r>
            <a:endParaRPr lang="en-US" sz="906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0BEB4718-3954-E0AB-1CA5-EFFE654E2803}"/>
              </a:ext>
            </a:extLst>
          </p:cNvPr>
          <p:cNvSpPr/>
          <p:nvPr/>
        </p:nvSpPr>
        <p:spPr>
          <a:xfrm>
            <a:off x="5262252" y="4313513"/>
            <a:ext cx="295306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13"/>
              </a:lnSpc>
            </a:pPr>
            <a:r>
              <a:rPr lang="ru-RU" sz="906" dirty="0">
                <a:cs typeface="Heebo" pitchFamily="2" charset="-79"/>
              </a:rPr>
              <a:t>Декомпозиция процесса «Управление семейным бюджетом»</a:t>
            </a:r>
            <a:endParaRPr lang="en-US" sz="906" dirty="0"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8196"/>
            <a:ext cx="3709839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Используемые технологии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83977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380902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Python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1612478"/>
            <a:ext cx="401917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Серверная логика и бизнес-процессы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9316" y="983977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89316" y="1380902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Django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989316" y="1612478"/>
            <a:ext cx="401917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Веб-фреймворк с MVT архитектурой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5716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354089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SQLite3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96119" y="2585665"/>
            <a:ext cx="401917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Реляционная база данных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89316" y="195716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989316" y="2354089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Django ORM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2989316" y="2585665"/>
            <a:ext cx="401917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Объектно-реляционное отображение</a:t>
            </a:r>
            <a:endParaRPr lang="en-US" sz="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930351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327276"/>
            <a:ext cx="146752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Django REST Framework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96119" y="3558853"/>
            <a:ext cx="401917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Создание REST API</a:t>
            </a:r>
            <a:endParaRPr lang="en-US" sz="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89316" y="2930351"/>
            <a:ext cx="283518" cy="283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989316" y="3327276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drf-spectacular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2989316" y="3558853"/>
            <a:ext cx="401917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OpenAPI и Swagger UI</a:t>
            </a:r>
            <a:endParaRPr lang="en-US" sz="8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903538"/>
            <a:ext cx="283518" cy="28351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6119" y="4300463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Git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496119" y="4532040"/>
            <a:ext cx="401917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Управление версиями кода</a:t>
            </a:r>
            <a:endParaRPr lang="en-US" sz="8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89316" y="3903538"/>
            <a:ext cx="283518" cy="28351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2989316" y="4300463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VS Code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2989316" y="4532040"/>
            <a:ext cx="401917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Среда разработки</a:t>
            </a:r>
            <a:endParaRPr lang="en-US" sz="85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FF10D9A-92B6-C021-F69A-0F66697E72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7531" y="4831040"/>
            <a:ext cx="1136469" cy="312460"/>
          </a:xfrm>
          <a:prstGeom prst="rect">
            <a:avLst/>
          </a:prstGeom>
        </p:spPr>
      </p:pic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19CC49A4-6271-F22F-E7BB-07758F3603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32655" y="1441106"/>
            <a:ext cx="3562783" cy="23745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720179"/>
            <a:ext cx="40182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Структура базы данных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517526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Основные сущности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925119" y="1925092"/>
            <a:ext cx="2188443" cy="183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Пользователь (User)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Семейная группа (Family)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Участник семьи (FamilyMember)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Категория (Category)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Транзакция (Transaction)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Бюджет (Budget)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64201" y="1517526"/>
            <a:ext cx="2188443" cy="531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Дополнительные сущности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64201" y="2190899"/>
            <a:ext cx="2314039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Комментарий (Comment)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История изменений (History)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Права доступа (Permissions)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25119" y="396961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Связи реализованы через внешние ключи с обеспечением целостности данных.</a:t>
            </a:r>
            <a:endParaRPr lang="en-US" sz="11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D139A4-BB21-FEA1-E808-ED16E2BEA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531" y="4831040"/>
            <a:ext cx="1136469" cy="31246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035E685-20E3-20FA-7500-9DAF0E0509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18" r="7433"/>
          <a:stretch>
            <a:fillRect/>
          </a:stretch>
        </p:blipFill>
        <p:spPr>
          <a:xfrm>
            <a:off x="100882" y="537046"/>
            <a:ext cx="3824237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439"/>
            <a:ext cx="4990951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Реализация серверной логики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97161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01</a:t>
            </a:r>
            <a:endParaRPr lang="en-US" sz="105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306934"/>
            <a:ext cx="263195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412304"/>
            <a:ext cx="2283247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Авторизация и регистрация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1699394"/>
            <a:ext cx="26319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JWT и сессии, хэширование паролей, восстановление доступа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55987" y="1097161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02</a:t>
            </a:r>
            <a:endParaRPr lang="en-US" sz="105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55987" y="1306934"/>
            <a:ext cx="263195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3255987" y="1412304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Семейные группы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55987" y="1699394"/>
            <a:ext cx="26319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Создание, управление участниками, разграничение прав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15856" y="1097161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03</a:t>
            </a:r>
            <a:endParaRPr lang="en-US" sz="105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15856" y="1306934"/>
            <a:ext cx="263195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015856" y="1412304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Категории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15856" y="1699394"/>
            <a:ext cx="26319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Иерархия категорий доходов и расходов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6119" y="2348433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04</a:t>
            </a:r>
            <a:endParaRPr lang="en-US" sz="105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6119" y="2558207"/>
            <a:ext cx="263195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266357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Транзакции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119" y="2950666"/>
            <a:ext cx="26319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CRUD операции, валидация данных, связь с участниками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55987" y="2348433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05</a:t>
            </a:r>
            <a:endParaRPr lang="en-US" sz="105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55987" y="2558207"/>
            <a:ext cx="263195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9"/>
          <p:cNvSpPr/>
          <p:nvPr/>
        </p:nvSpPr>
        <p:spPr>
          <a:xfrm>
            <a:off x="3255987" y="2663577"/>
            <a:ext cx="208552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Бюджетные ограничения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55987" y="2950666"/>
            <a:ext cx="26319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Лимиты по категориям и периодам, уведомления о превышении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15856" y="2348433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06</a:t>
            </a:r>
            <a:endParaRPr lang="en-US" sz="105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15856" y="2558207"/>
            <a:ext cx="263195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5" name="Text 23"/>
          <p:cNvSpPr/>
          <p:nvPr/>
        </p:nvSpPr>
        <p:spPr>
          <a:xfrm>
            <a:off x="6015856" y="2663577"/>
            <a:ext cx="198693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Отчётность и аналитика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15856" y="2950666"/>
            <a:ext cx="26319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Агрегации, фильтрация по периодам, визуализация данных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6119" y="3599706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07</a:t>
            </a:r>
            <a:endParaRPr lang="en-US" sz="105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96119" y="3809479"/>
            <a:ext cx="263195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9" name="Text 27"/>
          <p:cNvSpPr/>
          <p:nvPr/>
        </p:nvSpPr>
        <p:spPr>
          <a:xfrm>
            <a:off x="496119" y="3914849"/>
            <a:ext cx="1758925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Импорт и экспорт CSV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6119" y="4201939"/>
            <a:ext cx="26319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Массовая загрузка и выгрузка транзакций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55987" y="3599706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08</a:t>
            </a:r>
            <a:endParaRPr lang="en-US" sz="105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55987" y="3809479"/>
            <a:ext cx="263195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3" name="Text 31"/>
          <p:cNvSpPr/>
          <p:nvPr/>
        </p:nvSpPr>
        <p:spPr>
          <a:xfrm>
            <a:off x="3255987" y="3914849"/>
            <a:ext cx="198320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Комментарии и история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55987" y="4201939"/>
            <a:ext cx="26319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Обсуждение транзакций, аудит изменений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15856" y="3599706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09</a:t>
            </a:r>
            <a:endParaRPr lang="en-US" sz="105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015856" y="3809479"/>
            <a:ext cx="2631951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7" name="Text 35"/>
          <p:cNvSpPr/>
          <p:nvPr/>
        </p:nvSpPr>
        <p:spPr>
          <a:xfrm>
            <a:off x="6015856" y="3914849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REST API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15856" y="4201939"/>
            <a:ext cx="26319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Документированный интерфейс для клиентских приложений</a:t>
            </a:r>
            <a:endParaRPr lang="en-US" sz="1050" dirty="0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3A2FB8C-6DC0-2066-3649-DFD64AB24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531" y="4831040"/>
            <a:ext cx="1136469" cy="312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97088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REST API и Swagger UI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470571"/>
            <a:ext cx="2135832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Основные endpoint'ы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96119" y="20907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Модули данных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453953"/>
            <a:ext cx="21884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/api/families/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/api/categories/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/api/transactions/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/api/budgets/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149190" y="21088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Служебные модули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149190" y="2472050"/>
            <a:ext cx="21884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/api/comments/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/api/history/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/api/schema/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Tx/>
              <a:buChar char="‒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/api/docs/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6119" y="37189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документируется через Swagger/OpenAPI с автоматической генерацией интерфейса.</a:t>
            </a:r>
            <a:endParaRPr lang="en-US" sz="11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59DFA2-10F9-0A03-2037-105B95C59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531" y="4831040"/>
            <a:ext cx="1136469" cy="31246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51D7454-622B-4069-1148-5C9502FA7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568" y="79686"/>
            <a:ext cx="3141999" cy="49571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98500"/>
            <a:ext cx="2973288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Тестирование системы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496119" y="950342"/>
            <a:ext cx="3371031" cy="603796"/>
          </a:xfrm>
          <a:prstGeom prst="roundRect">
            <a:avLst>
              <a:gd name="adj" fmla="val 1135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1831" y="950342"/>
            <a:ext cx="57150" cy="603796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659532" y="1070893"/>
            <a:ext cx="166255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Модульное тестирование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59533" y="1284759"/>
            <a:ext cx="3207618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Тестирование отдельных функций и методов модулей приложения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96119" y="1633835"/>
            <a:ext cx="3371031" cy="603796"/>
          </a:xfrm>
          <a:prstGeom prst="roundRect">
            <a:avLst>
              <a:gd name="adj" fmla="val 1135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1831" y="1633835"/>
            <a:ext cx="57150" cy="603796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0" name="Text 7"/>
          <p:cNvSpPr/>
          <p:nvPr/>
        </p:nvSpPr>
        <p:spPr>
          <a:xfrm>
            <a:off x="659532" y="1754386"/>
            <a:ext cx="203187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Интеграционное тестирование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9533" y="1968252"/>
            <a:ext cx="2731368" cy="14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Проверка взаимодействия между компонентами системы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6119" y="2317328"/>
            <a:ext cx="3371031" cy="603796"/>
          </a:xfrm>
          <a:prstGeom prst="roundRect">
            <a:avLst>
              <a:gd name="adj" fmla="val 1135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1831" y="2317328"/>
            <a:ext cx="57150" cy="603796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4" name="Text 11"/>
          <p:cNvSpPr/>
          <p:nvPr/>
        </p:nvSpPr>
        <p:spPr>
          <a:xfrm>
            <a:off x="659532" y="2437879"/>
            <a:ext cx="144660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Тестирование REST API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9533" y="2651745"/>
            <a:ext cx="288376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Валидация endpoint'ов через Swagger UI и ручные проверки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96119" y="3000821"/>
            <a:ext cx="3371031" cy="603796"/>
          </a:xfrm>
          <a:prstGeom prst="roundRect">
            <a:avLst>
              <a:gd name="adj" fmla="val 1135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1831" y="3000821"/>
            <a:ext cx="57150" cy="603796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8" name="Text 15"/>
          <p:cNvSpPr/>
          <p:nvPr/>
        </p:nvSpPr>
        <p:spPr>
          <a:xfrm>
            <a:off x="659532" y="3121372"/>
            <a:ext cx="139295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Ручное тестирование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9533" y="3335237"/>
            <a:ext cx="3135228" cy="166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Проверка веб-интерфейса, авторизации, транзакций, бюджетов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96119" y="3724201"/>
            <a:ext cx="1801118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Проверенные функции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96119" y="4114800"/>
            <a:ext cx="2231678" cy="50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FontTx/>
              <a:buChar char="‒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Авторизация и регистрация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FontTx/>
              <a:buChar char="‒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CRUD транзакций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FontTx/>
              <a:buChar char="‒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Управление категориями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353568" y="4114799"/>
            <a:ext cx="2231678" cy="50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FontTx/>
              <a:buChar char="‒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Бюджетные ограничения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FontTx/>
              <a:buChar char="‒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Отчётность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FontTx/>
              <a:buChar char="‒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Импорт/экспорт CSV</a:t>
            </a:r>
            <a:endParaRPr lang="en-US" sz="80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C39C105-A3BF-2B46-2BDC-F9A4EED43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531" y="4831040"/>
            <a:ext cx="1136469" cy="31246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05ED724-9C8F-1E8C-BF8B-E23AAD30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938" y="590475"/>
            <a:ext cx="5133171" cy="3524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12CBB5-E901-0836-379C-81A183DA32A0}"/>
              </a:ext>
            </a:extLst>
          </p:cNvPr>
          <p:cNvSpPr/>
          <p:nvPr/>
        </p:nvSpPr>
        <p:spPr>
          <a:xfrm>
            <a:off x="2879961" y="1467403"/>
            <a:ext cx="29904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38"/>
              </a:lnSpc>
            </a:pPr>
            <a:r>
              <a:rPr lang="ru-RU" sz="2344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Спасибо за внимание!</a:t>
            </a:r>
            <a:endParaRPr lang="en-US" sz="2344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DDB709-110C-FF25-EE93-30B33933A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518" y="4791245"/>
            <a:ext cx="1094798" cy="30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40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636</Words>
  <Application>Microsoft Office PowerPoint</Application>
  <PresentationFormat>Экран (16:9)</PresentationFormat>
  <Paragraphs>179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Crimson Pro Semi Bold</vt:lpstr>
      <vt:lpstr>Arial</vt:lpstr>
      <vt:lpstr>Heebo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Никита Дицель</cp:lastModifiedBy>
  <cp:revision>24</cp:revision>
  <dcterms:created xsi:type="dcterms:W3CDTF">2026-05-11T19:25:49Z</dcterms:created>
  <dcterms:modified xsi:type="dcterms:W3CDTF">2026-05-11T19:57:01Z</dcterms:modified>
</cp:coreProperties>
</file>